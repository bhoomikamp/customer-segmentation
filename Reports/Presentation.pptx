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6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F3864"/>
                </a:solidFill>
                <a:latin typeface="Arial"/>
              </a:defRPr>
            </a:pPr>
            <a:r>
              <a:rPr lang="en-IN" sz="1300" b="1" i="0" u="none" strike="noStrike">
                <a:solidFill>
                  <a:srgbClr val="1F3864"/>
                </a:solidFill>
                <a:latin typeface="Arial"/>
              </a:rPr>
              <a:t>Purchases by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047-4BE4-B463-0DE867B5995A}"/>
              </c:ext>
            </c:extLst>
          </c:dPt>
          <c:dPt>
            <c:idx val="1"/>
            <c:invertIfNegative val="0"/>
            <c:bubble3D val="0"/>
            <c:spPr>
              <a:solidFill>
                <a:srgbClr val="5B8D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47-4BE4-B463-0DE867B5995A}"/>
              </c:ext>
            </c:extLst>
          </c:dPt>
          <c:dPt>
            <c:idx val="2"/>
            <c:invertIfNegative val="0"/>
            <c:bubble3D val="0"/>
            <c:spPr>
              <a:solidFill>
                <a:srgbClr val="F0C27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47-4BE4-B463-0DE867B5995A}"/>
              </c:ext>
            </c:extLst>
          </c:dPt>
          <c:dPt>
            <c:idx val="3"/>
            <c:invertIfNegative val="0"/>
            <c:bubble3D val="0"/>
            <c:spPr>
              <a:solidFill>
                <a:srgbClr val="E8A5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047-4BE4-B463-0DE867B5995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1737</c:v>
                </c:pt>
                <c:pt idx="1">
                  <c:v>1240</c:v>
                </c:pt>
                <c:pt idx="2">
                  <c:v>599</c:v>
                </c:pt>
                <c:pt idx="3">
                  <c:v>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047-4BE4-B463-0DE867B599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F3864"/>
                </a:solidFill>
                <a:latin typeface="Arial"/>
              </a:defRPr>
            </a:pPr>
            <a:r>
              <a:rPr lang="en-IN" sz="1300" b="1" i="0" u="none" strike="noStrike">
                <a:solidFill>
                  <a:srgbClr val="1F3864"/>
                </a:solidFill>
                <a:latin typeface="Arial"/>
              </a:rPr>
              <a:t>Purchases by Season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F0C27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982-4301-B1AE-57292CC387F9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982-4301-B1AE-57292CC387F9}"/>
              </c:ext>
            </c:extLst>
          </c:dPt>
          <c:dPt>
            <c:idx val="2"/>
            <c:invertIfNegative val="0"/>
            <c:bubble3D val="0"/>
            <c:spPr>
              <a:solidFill>
                <a:srgbClr val="5B8D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982-4301-B1AE-57292CC387F9}"/>
              </c:ext>
            </c:extLst>
          </c:dPt>
          <c:dPt>
            <c:idx val="3"/>
            <c:invertIfNegative val="0"/>
            <c:bubble3D val="0"/>
            <c:spPr>
              <a:solidFill>
                <a:srgbClr val="E8A5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982-4301-B1AE-57292CC387F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Fall</c:v>
                </c:pt>
                <c:pt idx="1">
                  <c:v>Spring</c:v>
                </c:pt>
                <c:pt idx="2">
                  <c:v>Winter</c:v>
                </c:pt>
                <c:pt idx="3">
                  <c:v>Summer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975</c:v>
                </c:pt>
                <c:pt idx="1">
                  <c:v>999</c:v>
                </c:pt>
                <c:pt idx="2">
                  <c:v>971</c:v>
                </c:pt>
                <c:pt idx="3">
                  <c:v>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982-4301-B1AE-57292CC387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F3864"/>
                </a:solidFill>
                <a:latin typeface="Arial"/>
              </a:defRPr>
            </a:pPr>
            <a:r>
              <a:rPr lang="en-IN" sz="1200" b="1" i="0" u="none" strike="noStrike">
                <a:solidFill>
                  <a:srgbClr val="1F3864"/>
                </a:solidFill>
                <a:latin typeface="Arial"/>
              </a:rPr>
              <a:t>Silhouette Scores — K = 2 to 8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93F-4537-92A2-9138082FA3E0}"/>
              </c:ext>
            </c:extLst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93F-4537-92A2-9138082FA3E0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93F-4537-92A2-9138082FA3E0}"/>
              </c:ext>
            </c:extLst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93F-4537-92A2-9138082FA3E0}"/>
              </c:ext>
            </c:extLst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93F-4537-92A2-9138082FA3E0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93F-4537-92A2-9138082FA3E0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93F-4537-92A2-9138082FA3E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K=2</c:v>
                </c:pt>
                <c:pt idx="1">
                  <c:v>K=3</c:v>
                </c:pt>
                <c:pt idx="2">
                  <c:v>K=4</c:v>
                </c:pt>
                <c:pt idx="3">
                  <c:v>K=5</c:v>
                </c:pt>
                <c:pt idx="4">
                  <c:v>K=6</c:v>
                </c:pt>
                <c:pt idx="5">
                  <c:v>K=7</c:v>
                </c:pt>
                <c:pt idx="6">
                  <c:v>K=8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0.45300000000000001</c:v>
                </c:pt>
                <c:pt idx="1">
                  <c:v>0.41599999999999998</c:v>
                </c:pt>
                <c:pt idx="2">
                  <c:v>0.26400000000000001</c:v>
                </c:pt>
                <c:pt idx="3">
                  <c:v>0.25800000000000001</c:v>
                </c:pt>
                <c:pt idx="4">
                  <c:v>0.27</c:v>
                </c:pt>
                <c:pt idx="5">
                  <c:v>0.216</c:v>
                </c:pt>
                <c:pt idx="6">
                  <c:v>0.215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93F-4537-92A2-9138082FA3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Cluster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3AE-4308-A97E-790243A17D09}"/>
              </c:ext>
            </c:extLst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3AE-4308-A97E-790243A17D09}"/>
              </c:ext>
            </c:extLst>
          </c:dPt>
          <c:dPt>
            <c:idx val="2"/>
            <c:bubble3D val="0"/>
            <c:spPr>
              <a:solidFill>
                <a:srgbClr val="60BD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3AE-4308-A97E-790243A17D09}"/>
              </c:ext>
            </c:extLst>
          </c:dPt>
          <c:cat>
            <c:strRef>
              <c:f>Sheet1!$A$2:$A$4</c:f>
              <c:strCache>
                <c:ptCount val="3"/>
                <c:pt idx="0">
                  <c:v>C1 — Organic Buyers</c:v>
                </c:pt>
                <c:pt idx="1">
                  <c:v>C2 — Deal Seekers</c:v>
                </c:pt>
                <c:pt idx="2">
                  <c:v>C3 — Loyal Members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2223</c:v>
                </c:pt>
                <c:pt idx="1">
                  <c:v>624</c:v>
                </c:pt>
                <c:pt idx="2">
                  <c:v>1053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3AE-4308-A97E-790243A17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673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E75B6">
              <a:alpha val="15000"/>
            </a:srgbClr>
          </a:solidFill>
          <a:ln w="12700">
            <a:solidFill>
              <a:srgbClr val="2E75B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5B8DB8">
              <a:alpha val="20000"/>
            </a:srgbClr>
          </a:solidFill>
          <a:ln w="12700">
            <a:solidFill>
              <a:srgbClr val="5B8DB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CDACL-002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Analytics Report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4114800" cy="36576"/>
          </a:xfrm>
          <a:prstGeom prst="rect">
            <a:avLst/>
          </a:prstGeom>
          <a:solidFill>
            <a:srgbClr val="F0C274"/>
          </a:solidFill>
          <a:ln w="12700">
            <a:solidFill>
              <a:srgbClr val="F0C2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13293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Dataset:  </a:t>
            </a:r>
            <a:r>
              <a:rPr lang="en-US" sz="1300" b="1" dirty="0">
                <a:solidFill>
                  <a:srgbClr val="CADCFC"/>
                </a:solidFill>
              </a:rPr>
              <a:t>Shopping Trends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54711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Records:  </a:t>
            </a:r>
            <a:r>
              <a:rPr lang="en-US" sz="1300" b="1" dirty="0">
                <a:solidFill>
                  <a:srgbClr val="CADCFC"/>
                </a:solidFill>
              </a:rPr>
              <a:t>3,900 customers  |  19 features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880927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Tools:  </a:t>
            </a:r>
            <a:r>
              <a:rPr lang="en-US" sz="1300" b="1" dirty="0">
                <a:solidFill>
                  <a:srgbClr val="CADCFC"/>
                </a:solidFill>
              </a:rPr>
              <a:t>MySQL  ·  Python  ·  Orange  ·  Power BI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Datamites Client Analytics Project</a:t>
            </a:r>
            <a:endParaRPr lang="en-US" sz="10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0562B1CC-159C-4AFF-933B-580E5C821277}"/>
              </a:ext>
            </a:extLst>
          </p:cNvPr>
          <p:cNvSpPr/>
          <p:nvPr/>
        </p:nvSpPr>
        <p:spPr>
          <a:xfrm>
            <a:off x="640080" y="305421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Name:  </a:t>
            </a:r>
            <a:r>
              <a:rPr lang="en-US" sz="1300" b="1" dirty="0">
                <a:solidFill>
                  <a:srgbClr val="CADCFC"/>
                </a:solidFill>
              </a:rPr>
              <a:t>Bhoomika M P</a:t>
            </a:r>
          </a:p>
          <a:p>
            <a:pPr marL="0" indent="0">
              <a:buNone/>
            </a:pPr>
            <a:endParaRPr lang="en-US" sz="1300" b="1" dirty="0">
              <a:solidFill>
                <a:srgbClr val="CADCFC"/>
              </a:solidFill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</a:rPr>
              <a:t>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105156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02920" cy="10515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</a:rPr>
              <a:t>Project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087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Objective, dataset, and tools used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023360" cy="105156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502920" cy="10515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377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</a:rPr>
              <a:t>Exploratory Data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7432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Demographics, purchasing behaviour, discount insights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023360" cy="105156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20440"/>
            <a:ext cx="502920" cy="10515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204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6118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</a:rPr>
              <a:t>Clustering Methodology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9776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K-Means setup, silhouette scoring, feature selection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4023360" cy="105156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051560"/>
            <a:ext cx="502920" cy="10515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515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11430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</a:rPr>
              <a:t>Segment Profiles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15087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C1 Organic Buyers · C2 Deal Seekers · C3 Loyal Members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286000"/>
            <a:ext cx="4023360" cy="105156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286000"/>
            <a:ext cx="502920" cy="10515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286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2377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</a:rPr>
              <a:t>Marketing Campaigns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27432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Targeted campaign strategy for each segment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520440"/>
            <a:ext cx="4023360" cy="105156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520440"/>
            <a:ext cx="502920" cy="10515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5204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36118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</a:rPr>
              <a:t>Key Insights &amp; Conclusion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39776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Summary findings and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01  |  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</a:rPr>
              <a:t>Objective:  </a:t>
            </a:r>
            <a:r>
              <a:rPr lang="en-US" sz="1300" dirty="0">
                <a:solidFill>
                  <a:srgbClr val="1E293B"/>
                </a:solidFill>
              </a:rPr>
              <a:t>Segment 3,900 U.S. shoppers purchasing behaviour using K-Means clustering, identify distinct customer groups, and derive targeted marketing campaigns to improve sales strategy and retention.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2651760" cy="25603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240280"/>
            <a:ext cx="265176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40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3,900 records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19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0 null values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0 duplicates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240280"/>
            <a:ext cx="2651760" cy="25603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240280"/>
            <a:ext cx="265176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240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Tools Used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7432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MySQL Workbench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Python + pandas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Orange Data Mining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Power BI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240280"/>
            <a:ext cx="2651760" cy="25603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240280"/>
            <a:ext cx="265176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240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Deliverables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27432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EDA notebook (.ipynb)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Clustering workflow (.ows)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Dashboard (Power BI)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Analytics report (.docx)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02  |  Exploratory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5448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</a:rPr>
              <a:t>3,900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Total Customers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005840"/>
            <a:ext cx="155448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1005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</a:rPr>
              <a:t>68%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01168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Male Customers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1005840"/>
            <a:ext cx="155448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1005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</a:rPr>
              <a:t>32%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74904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Female Customers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1005840"/>
            <a:ext cx="155448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1005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</a:rPr>
              <a:t>27%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8640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Subscribed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1005840"/>
            <a:ext cx="1554480" cy="86868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1005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864"/>
                </a:solidFill>
              </a:rPr>
              <a:t>43%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22376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Used Discounts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274320" y="2011680"/>
          <a:ext cx="4114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"/>
          <p:cNvGraphicFramePr/>
          <p:nvPr/>
        </p:nvGraphicFramePr>
        <p:xfrm>
          <a:off x="4754880" y="2011680"/>
          <a:ext cx="4114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|  Q1: Which Categories Should Receive Discounts?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015475"/>
              </p:ext>
            </p:extLst>
          </p:nvPr>
        </p:nvGraphicFramePr>
        <p:xfrm>
          <a:off x="365760" y="1051560"/>
          <a:ext cx="8412480" cy="2286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Total Purchases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With Discount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Discount Rate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Recommendation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Clothing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1,737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~750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~43%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</a:rPr>
                        <a:t> Priority — Highest Volume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Accessories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1,240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~534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~43%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</a:rPr>
                        <a:t>Priority — High Volume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Footwear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599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~258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~43%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54D0E"/>
                          </a:solidFill>
                        </a:rPr>
                        <a:t> Seasonal — Spring/Summer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Outerwear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324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~139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~43%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54D0E"/>
                          </a:solidFill>
                        </a:rPr>
                        <a:t> Targeted — Winter Only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520440"/>
            <a:ext cx="8412480" cy="137160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3"/>
          <p:cNvSpPr/>
          <p:nvPr/>
        </p:nvSpPr>
        <p:spPr>
          <a:xfrm>
            <a:off x="548640" y="3584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</a:rPr>
              <a:t>Key Insight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91363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Discount rates are uniform across all categories (~43%), so prioritisation is driven by volume and strategy — not by which categories 'need' discounts more. Clothing and Accessories offer the highest ROI for broad discount campaigns. Footwear and Outerwear discounts should be seasonal to preserve margin.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03  |  Clustering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50876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150876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</a:rPr>
              <a:t>Load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CSV → Orange File widget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3,900 rows × 19 features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1234440"/>
            <a:ext cx="210312" cy="91440"/>
          </a:xfrm>
          <a:prstGeom prst="rect">
            <a:avLst/>
          </a:prstGeom>
          <a:solidFill>
            <a:srgbClr val="F0C274"/>
          </a:solidFill>
          <a:ln w="12700">
            <a:solidFill>
              <a:srgbClr val="F0C27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051560"/>
            <a:ext cx="150876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93392" y="1508760"/>
            <a:ext cx="150876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</a:rPr>
              <a:t>Select 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84832" y="1874520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Age, Spend, Rating,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Previous Purchases,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Subscription, Discount,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Promo Code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02152" y="1234440"/>
            <a:ext cx="210312" cy="91440"/>
          </a:xfrm>
          <a:prstGeom prst="rect">
            <a:avLst/>
          </a:prstGeom>
          <a:solidFill>
            <a:srgbClr val="F0C274"/>
          </a:solidFill>
          <a:ln w="12700">
            <a:solidFill>
              <a:srgbClr val="F0C2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12464" y="1051560"/>
            <a:ext cx="150876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12464" y="1508760"/>
            <a:ext cx="150876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</a:rPr>
              <a:t>Continuize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03904" y="1874520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One-hot encode Yes/No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Normalise numerics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to [0, 1]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21224" y="1234440"/>
            <a:ext cx="210312" cy="91440"/>
          </a:xfrm>
          <a:prstGeom prst="rect">
            <a:avLst/>
          </a:prstGeom>
          <a:solidFill>
            <a:srgbClr val="F0C274"/>
          </a:solidFill>
          <a:ln w="12700">
            <a:solidFill>
              <a:srgbClr val="F0C27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31536" y="1051560"/>
            <a:ext cx="150876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1536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31536" y="1508760"/>
            <a:ext cx="150876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1536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</a:rPr>
              <a:t>K-Means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22976" y="1874520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Test K = 2 to 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Silhouette scoring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Select K = 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0296" y="1234440"/>
            <a:ext cx="210312" cy="91440"/>
          </a:xfrm>
          <a:prstGeom prst="rect">
            <a:avLst/>
          </a:prstGeom>
          <a:solidFill>
            <a:srgbClr val="F0C274"/>
          </a:solidFill>
          <a:ln w="12700">
            <a:solidFill>
              <a:srgbClr val="F0C27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50608" y="1051560"/>
            <a:ext cx="150876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50608" y="1051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150608" y="1508760"/>
            <a:ext cx="150876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0608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</a:rPr>
              <a:t>Export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42048" y="1874520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Append Cluster labels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Save .csv + .ows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Load into Power BI</a:t>
            </a:r>
            <a:endParaRPr lang="en-US" sz="100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274320" y="3017520"/>
          <a:ext cx="50292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" name="Shape 31"/>
          <p:cNvSpPr/>
          <p:nvPr/>
        </p:nvSpPr>
        <p:spPr>
          <a:xfrm>
            <a:off x="5577840" y="3017520"/>
            <a:ext cx="3291840" cy="19202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669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</a:rPr>
              <a:t>Why K = 3?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669280" y="34290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K=2 score is highest (0.453) but produces only 2 segments — insufficient for targeted campaigns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K=3 score (0.416) is still strong with a sharp drop to 0.264 at K=4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3 segments align naturally with behavioural data patterns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Project brief requires 3 or more distinct customer groups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04  |  Customer Segment Profiles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9319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914400"/>
          </a:xfrm>
          <a:prstGeom prst="rect">
            <a:avLst/>
          </a:prstGeom>
          <a:solidFill>
            <a:srgbClr val="F0C274"/>
          </a:solidFill>
          <a:ln w="12700">
            <a:solidFill>
              <a:srgbClr val="F0C2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8350F"/>
                </a:solidFill>
              </a:rPr>
              <a:t>C1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78350F"/>
                </a:solidFill>
              </a:rPr>
              <a:t>Organic Buyers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</a:rPr>
              <a:t>57%  ·  2,223 customers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No subscription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No discounts used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No promo codes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Mixed gender (F + M)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Peak season: Fall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Top category: Clothing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39319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743200" cy="914400"/>
          </a:xfrm>
          <a:prstGeom prst="rect">
            <a:avLst/>
          </a:prstGeom>
          <a:solidFill>
            <a:srgbClr val="E8A598"/>
          </a:solidFill>
          <a:ln w="12700">
            <a:solidFill>
              <a:srgbClr val="E8A5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058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1D1D"/>
                </a:solidFill>
              </a:rPr>
              <a:t>C2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1005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7F1D1D"/>
                </a:solidFill>
              </a:rPr>
              <a:t>Deal Seekers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</a:rPr>
              <a:t>16%  ·  624 customers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0116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No subscription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Always use discounts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Always use promo codes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All Male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Peak season: Spring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Top category: Clothing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743200" cy="39319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05840"/>
            <a:ext cx="2743200" cy="9144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0058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3A5F"/>
                </a:solidFill>
              </a:rPr>
              <a:t>C3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66560" y="1005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Loyal Members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27%  ·  1,053 customers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0116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Subscribed ✓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Always use discounts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Always use promo codes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All Male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Peak season: Spring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Top category: Clothing</a:t>
            </a:r>
            <a:endParaRPr lang="en-US" sz="11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0" y="868680"/>
          <a:ext cx="9144" cy="9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05  |  Targeted Marketing Campaigns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39319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43200" cy="457200"/>
          </a:xfrm>
          <a:prstGeom prst="rect">
            <a:avLst/>
          </a:prstGeom>
          <a:solidFill>
            <a:srgbClr val="F0C274"/>
          </a:solidFill>
          <a:ln w="12700">
            <a:solidFill>
              <a:srgbClr val="F0C2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8350F"/>
                </a:solidFill>
              </a:rPr>
              <a:t>C1 — Organic Buyers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</a:rPr>
              <a:t>"Shop Your Way"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Retain full-price buyers &amp; grow basket size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No blanket discounts — preserve full-price behaviour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Loyalty points programme (not discount-based)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Personalised product recommendations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Female-focused campaigns (styling guides, lookbooks)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Fall season collection launches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3886200"/>
            <a:ext cx="2743200" cy="548640"/>
          </a:xfrm>
          <a:prstGeom prst="rect">
            <a:avLst/>
          </a:prstGeom>
          <a:solidFill>
            <a:srgbClr val="F0C274">
              <a:alpha val="25000"/>
            </a:srgbClr>
          </a:solidFill>
          <a:ln w="12700">
            <a:solidFill>
              <a:srgbClr val="F0C274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9044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</a:rPr>
              <a:t>Channels: </a:t>
            </a:r>
            <a:r>
              <a:rPr lang="en-US" sz="900" dirty="0">
                <a:solidFill>
                  <a:srgbClr val="1E293B"/>
                </a:solidFill>
              </a:rPr>
              <a:t>Email · Instagram · Pinterest · In-store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4133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</a:rPr>
              <a:t>KPIs: </a:t>
            </a:r>
            <a:r>
              <a:rPr lang="en-US" sz="900" dirty="0">
                <a:solidFill>
                  <a:srgbClr val="1E293B"/>
                </a:solidFill>
              </a:rPr>
              <a:t>Avg order value · Repeat purchase rate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54680" y="1005840"/>
            <a:ext cx="2743200" cy="39319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005840"/>
            <a:ext cx="2743200" cy="457200"/>
          </a:xfrm>
          <a:prstGeom prst="rect">
            <a:avLst/>
          </a:prstGeom>
          <a:solidFill>
            <a:srgbClr val="E8A598"/>
          </a:solidFill>
          <a:ln w="12700">
            <a:solidFill>
              <a:srgbClr val="E8A5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F1D1D"/>
                </a:solidFill>
              </a:rPr>
              <a:t>C2 — Deal Seekers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</a:rPr>
              <a:t>"Best Deal, Right Now"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Convert price-sensitive buyers into regulars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21945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Spring flash sale targeting C2 specifically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Time-limited personalised promo codes via SMS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Bundle deals: Clothing + Accessories combined discount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Free 1-month subscription trial to convert to C3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Retargeting ads with visible discount badge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54680" y="3886200"/>
            <a:ext cx="2743200" cy="548640"/>
          </a:xfrm>
          <a:prstGeom prst="rect">
            <a:avLst/>
          </a:prstGeom>
          <a:solidFill>
            <a:srgbClr val="E8A598">
              <a:alpha val="25000"/>
            </a:srgbClr>
          </a:solidFill>
          <a:ln w="12700">
            <a:solidFill>
              <a:srgbClr val="E8A598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39044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</a:rPr>
              <a:t>Channels: </a:t>
            </a:r>
            <a:r>
              <a:rPr lang="en-US" sz="900" dirty="0">
                <a:solidFill>
                  <a:srgbClr val="1E293B"/>
                </a:solidFill>
              </a:rPr>
              <a:t>SMS · Email · Google/Meta Ads · Push notifications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46120" y="4133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</a:rPr>
              <a:t>KPIs: </a:t>
            </a:r>
            <a:r>
              <a:rPr lang="en-US" sz="900" dirty="0">
                <a:solidFill>
                  <a:srgbClr val="1E293B"/>
                </a:solidFill>
              </a:rPr>
              <a:t>Promo redemption rate · Subscription trial conversion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80760" y="1005840"/>
            <a:ext cx="2743200" cy="39319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1005840"/>
            <a:ext cx="2743200" cy="4572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C3 — Loyal Members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</a:rPr>
              <a:t>"Members First"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Deepen loyalty &amp; increase lifetime value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1945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Members-only Spring early access event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Gold/Platinum subscription tier upgrades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Cross-category upsell recommendations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Subscription renewal rewards (double points month)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Referral programme with store credit bonuses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3886200"/>
            <a:ext cx="2743200" cy="548640"/>
          </a:xfrm>
          <a:prstGeom prst="rect">
            <a:avLst/>
          </a:prstGeom>
          <a:solidFill>
            <a:srgbClr val="5B8DB8">
              <a:alpha val="25000"/>
            </a:srgbClr>
          </a:solidFill>
          <a:ln w="12700">
            <a:solidFill>
              <a:srgbClr val="5B8DB8">
                <a:alpha val="2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9044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</a:rPr>
              <a:t>Channels: </a:t>
            </a:r>
            <a:r>
              <a:rPr lang="en-US" sz="900" dirty="0">
                <a:solidFill>
                  <a:srgbClr val="1E293B"/>
                </a:solidFill>
              </a:rPr>
              <a:t>Member app · Personalised email · WhatsApp alerts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4133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</a:rPr>
              <a:t>KPIs: </a:t>
            </a:r>
            <a:r>
              <a:rPr lang="en-US" sz="900" dirty="0">
                <a:solidFill>
                  <a:srgbClr val="1E293B"/>
                </a:solidFill>
              </a:rPr>
              <a:t>Renewal rate · Tier upgrade rate · Customer LTV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06  |  Key Insights &amp;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143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57200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Segments are behavioural, not demographic — age, spend, and rating are uniform across all clusters. Subscription and discount behaviour drives all differentiation.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4160520" cy="1143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350008"/>
            <a:ext cx="457200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350008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441448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All 1,248 female customers fall exclusively in C1 (Organic Buyers) — female shoppers in this dataset are price-independent and do not engage with promotional campaigns.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648456"/>
            <a:ext cx="4160520" cy="1143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648456"/>
            <a:ext cx="457200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648456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739896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84% of customers do not use their stated preferred payment method at checkout — a significant UX gap that could be reducing conversion rates across all segments.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4160520" cy="1143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51560"/>
            <a:ext cx="457200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05156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57800" y="114300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Clothing dominates all three segments (44.5% of all purchases) — it is the highest-priority category for both promotional and full-price campaigns.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0008"/>
            <a:ext cx="4160520" cy="1143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50008"/>
            <a:ext cx="457200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350008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57800" y="2441448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Discount and promo code usage are perfectly co-occurring — bundling them together as a single promotional package for C2 and C3 avoids redundancy.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48456"/>
            <a:ext cx="4160520" cy="1143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48456"/>
            <a:ext cx="457200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648456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57800" y="3739896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C2 (Deal Seekers) are the highest-potential conversion target — a free subscription trial offer could migrate them into C3 (Loyal Members), doubling their long-term value.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E75B6">
              <a:alpha val="15000"/>
            </a:srgbClr>
          </a:solidFill>
          <a:ln w="12700">
            <a:solidFill>
              <a:srgbClr val="2E75B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5B8DB8">
              <a:alpha val="20000"/>
            </a:srgbClr>
          </a:solidFill>
          <a:ln w="12700">
            <a:solidFill>
              <a:srgbClr val="5B8DB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0C274"/>
          </a:solidFill>
          <a:ln w="12700">
            <a:solidFill>
              <a:srgbClr val="F0C2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4572000" cy="36576"/>
          </a:xfrm>
          <a:prstGeom prst="rect">
            <a:avLst/>
          </a:prstGeom>
          <a:solidFill>
            <a:srgbClr val="F0C274"/>
          </a:solidFill>
          <a:ln w="12700">
            <a:solidFill>
              <a:srgbClr val="F0C2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U.S. shoppers were successfully segmented into three behaviorally distinct groups using K-Means clustering. The analysis reveals that purchasing behaviour — not demographics — is the true differentiator between segments.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777240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488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274"/>
                </a:solidFill>
              </a:rPr>
              <a:t>C1 — Organic Buyers (57%)  —  </a:t>
            </a:r>
            <a:r>
              <a:rPr lang="en-US" sz="1200" dirty="0">
                <a:solidFill>
                  <a:srgbClr val="CADCFC"/>
                </a:solidFill>
              </a:rPr>
              <a:t>Full-price, independent shoppers needing premium-experience campaigns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777240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88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274"/>
                </a:solidFill>
              </a:rPr>
              <a:t>C2 — Deal Seekers (16%)  —  </a:t>
            </a:r>
            <a:r>
              <a:rPr lang="en-US" sz="1200" dirty="0">
                <a:solidFill>
                  <a:srgbClr val="CADCFC"/>
                </a:solidFill>
              </a:rPr>
              <a:t>Price-sensitive males requiring timely discount-driven conversion campaigns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777240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290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274"/>
                </a:solidFill>
              </a:rPr>
              <a:t>C3 — Loyal Members (27%)  —  </a:t>
            </a:r>
            <a:r>
              <a:rPr lang="en-US" sz="1200" dirty="0">
                <a:solidFill>
                  <a:srgbClr val="CADCFC"/>
                </a:solidFill>
              </a:rPr>
              <a:t>Subscribed males ideal for retention, upsell, and referral programmes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Segment-specific campaigns are expected to improve retention, increase promotional ROI, and grow customer lifetime value across all three groups.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CDACL-002  |  Customer Segmentation  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1072</Words>
  <Application>Microsoft Office PowerPoint</Application>
  <PresentationFormat>On-screen Show (16:9)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CDACL-002 Customer Segmentation</dc:title>
  <dc:subject>PptxGenJS Presentation</dc:subject>
  <dc:creator>Datamites Analytics</dc:creator>
  <cp:lastModifiedBy>Bhoomika M P</cp:lastModifiedBy>
  <cp:revision>2</cp:revision>
  <dcterms:created xsi:type="dcterms:W3CDTF">2026-06-04T08:59:19Z</dcterms:created>
  <dcterms:modified xsi:type="dcterms:W3CDTF">2026-06-04T09:07:37Z</dcterms:modified>
</cp:coreProperties>
</file>